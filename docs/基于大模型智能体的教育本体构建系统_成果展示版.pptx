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9"/>
    <p:sldId id="280" r:id="rId30"/>
    <p:sldId id="281" r:id="rId3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200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ableStyles" Target="tableStyles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9966960" cy="10058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34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基于大模型智能体的教育本体构建系统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87168"/>
            <a:ext cx="7498079" cy="3683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800" b="0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课程实训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6858000" cy="310896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400" b="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小组成员：程梓轩、杨慧、孙艺凯、陈娟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6858000" cy="310896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400" b="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指导老师：王颖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66360"/>
            <a:ext cx="6858000" cy="310896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400" b="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日期：2026年7月9日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11185" y="1952625"/>
            <a:ext cx="256032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0912" y="2044065"/>
            <a:ext cx="2340863" cy="10149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 解析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文本/表格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08465" y="3187065"/>
            <a:ext cx="228600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193" y="3278505"/>
            <a:ext cx="2066543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LLM 抽取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语义增强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82585" y="4330065"/>
            <a:ext cx="2971800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312" y="4421504"/>
            <a:ext cx="2752344" cy="923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 导出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标准本体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771505" y="2539873"/>
            <a:ext cx="465455" cy="647065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9765665" y="4101465"/>
            <a:ext cx="548640" cy="22860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51560" y="5806440"/>
            <a:ext cx="9966960" cy="475488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39" y="5916168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从教育 PDF 到可导出的 OWL 本体：自动化、可追踪、可审计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项目简介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10332720" cy="5943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600" b="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面向教育领域 PDF 标准文档，自动完成 PDF 解析、数据清洗、大模型语义抽取、Schema 匹配、本体对齐和 OWL 导出。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105" y="2495550"/>
            <a:ext cx="214884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833" y="2586990"/>
            <a:ext cx="1929384" cy="1472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输入</a:t>
            </a:r>
          </a:p>
          <a:p>
            <a:pPr algn="ctr">
              <a:defRPr sz="12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教育类 PDF 文档</a:t>
            </a:r>
            <a:br/>
            <a:r>
              <a:t>表格与字段说明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024" y="2495550"/>
            <a:ext cx="214884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752" y="2586990"/>
            <a:ext cx="1929384" cy="1472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处理流程</a:t>
            </a:r>
          </a:p>
          <a:p>
            <a:pPr algn="ctr">
              <a:defRPr sz="12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PDF解析 → 数据清洗</a:t>
            </a:r>
            <a:br/>
            <a:r>
              <a:t>LLM抽取 → Schema匹配</a:t>
            </a:r>
            <a:br/>
            <a:r>
              <a:t>本体对齐 → OWL生成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0945" y="2495550"/>
            <a:ext cx="214884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673" y="2586990"/>
            <a:ext cx="1929384" cy="1472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输出</a:t>
            </a:r>
          </a:p>
          <a:p>
            <a:pPr algn="ctr">
              <a:defRPr sz="12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结构化本体 JSON</a:t>
            </a:r>
            <a:br/>
            <a:r>
              <a:t>OWL 文件</a:t>
            </a:r>
            <a:br/>
            <a:r>
              <a:t>溯源记录与系统日志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864" y="2495550"/>
            <a:ext cx="214884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592" y="2586990"/>
            <a:ext cx="1929384" cy="1472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项目特点</a:t>
            </a:r>
          </a:p>
          <a:p>
            <a:pPr algn="ctr">
              <a:defRPr sz="12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自动化 / 可导出</a:t>
            </a:r>
            <a:br/>
            <a:r>
              <a:t>可追踪 / 可审计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61945" y="3291078"/>
            <a:ext cx="640080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50865" y="3291078"/>
            <a:ext cx="640080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439785" y="3291078"/>
            <a:ext cx="640080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项目定位：把教育标准文档中的字段知识转化为可复用、可导出的教育本体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项目背景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160" y="1325880"/>
            <a:ext cx="7124065" cy="4169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200000"/>
              </a:lnSpc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rPr sz="2000"/>
              <a:t>◆ 教育数据来源复杂，教育管理、统计和高校标准文档并存</a:t>
            </a:r>
            <a:endParaRPr sz="2000"/>
          </a:p>
          <a:p>
            <a:pPr indent="0" fontAlgn="auto">
              <a:lnSpc>
                <a:spcPct val="200000"/>
              </a:lnSpc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rPr sz="2000"/>
              <a:t>◆ PDF 文档与表格结构不统一，字段命名和约束表达差异明显</a:t>
            </a:r>
            <a:endParaRPr sz="2000"/>
          </a:p>
          <a:p>
            <a:pPr indent="0" fontAlgn="auto">
              <a:lnSpc>
                <a:spcPct val="200000"/>
              </a:lnSpc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rPr sz="2000"/>
              <a:t>◆ 人工构建本体效率低，准确性依赖专家经验与反复校对</a:t>
            </a:r>
            <a:endParaRPr sz="2000"/>
          </a:p>
          <a:p>
            <a:pPr indent="0" fontAlgn="auto">
              <a:lnSpc>
                <a:spcPct val="200000"/>
              </a:lnSpc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rPr sz="2000"/>
              <a:t>◆ 引入大模型智能体，提升教育本体构建的自动化和语义理解能力</a:t>
            </a:r>
            <a:endParaRPr sz="2000"/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7" y="1600200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教育标准文档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532888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7" y="2624328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JSON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结构化本体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557016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3648456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标准导出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项目目标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6583680" cy="3681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200000"/>
              </a:lnSpc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rPr sz="2000"/>
              <a:t>◆ 支持教育类 PDF 上传与批量上传</a:t>
            </a:r>
            <a:endParaRPr sz="2000"/>
          </a:p>
          <a:p>
            <a:pPr indent="0" fontAlgn="auto">
              <a:lnSpc>
                <a:spcPct val="200000"/>
              </a:lnSpc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rPr sz="2000"/>
              <a:t>◆ 自动解析文本和表格，清洗为结构化记录</a:t>
            </a:r>
            <a:endParaRPr sz="2000"/>
          </a:p>
          <a:p>
            <a:pPr indent="0" fontAlgn="auto">
              <a:lnSpc>
                <a:spcPct val="200000"/>
              </a:lnSpc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rPr sz="2000"/>
              <a:t>◆ 完成字段标准化、候选领域识别和本体草稿生成</a:t>
            </a:r>
            <a:endParaRPr sz="2000"/>
          </a:p>
          <a:p>
            <a:pPr indent="0" fontAlgn="auto">
              <a:lnSpc>
                <a:spcPct val="200000"/>
              </a:lnSpc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rPr sz="2000"/>
              <a:t>◆ 通过 LLM 进行语义增强，输出类、属性、关系</a:t>
            </a:r>
            <a:endParaRPr sz="2000"/>
          </a:p>
          <a:p>
            <a:pPr indent="0" fontAlgn="auto">
              <a:lnSpc>
                <a:spcPct val="200000"/>
              </a:lnSpc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rPr sz="2000"/>
              <a:t>◆ 支持本体对齐、数据溯源、日志审计和 OWL 导出</a:t>
            </a:r>
            <a:endParaRPr sz="2000"/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7" y="1600200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教育标准文档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532888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7" y="2624328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JSON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结构化本体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557016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3648456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标准导出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系统总体架构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57400"/>
            <a:ext cx="137160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148840"/>
            <a:ext cx="115214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用户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上传/查看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417320"/>
            <a:ext cx="173736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4328" y="1508760"/>
            <a:ext cx="1517904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Vue 前端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Dashboard / Result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417320"/>
            <a:ext cx="173736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1508760"/>
            <a:ext cx="1517904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FastAPI 后端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统一 API 网关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3063240"/>
            <a:ext cx="132588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3154680"/>
            <a:ext cx="110642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PDF解析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pdfplumber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3063240"/>
            <a:ext cx="132588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98648" y="3154680"/>
            <a:ext cx="110642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数据清洗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clean_data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3063240"/>
            <a:ext cx="132588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8" y="3154680"/>
            <a:ext cx="110642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Schema匹配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字段标准化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063240"/>
            <a:ext cx="132588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154680"/>
            <a:ext cx="110642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LLM抽取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语义增强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3063240"/>
            <a:ext cx="132588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0727" y="3154680"/>
            <a:ext cx="110642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本体对齐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去重合并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60" y="3063240"/>
            <a:ext cx="132588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48088" y="3154680"/>
            <a:ext cx="110642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OWL生成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RDF/XML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69225" y="2057400"/>
            <a:ext cx="1828800" cy="749808"/>
          </a:xfrm>
          <a:prstGeom prst="roundRect">
            <a:avLst/>
          </a:prstGeom>
          <a:solidFill>
            <a:srgbClr val="F5FA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59268" y="2130425"/>
            <a:ext cx="160934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数据库/日志/文件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SQLite + system.log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38360" y="4709160"/>
            <a:ext cx="1417320" cy="749808"/>
          </a:xfrm>
          <a:prstGeom prst="roundRect">
            <a:avLst/>
          </a:prstGeom>
          <a:solidFill>
            <a:srgbClr val="F5FFFB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48088" y="4800600"/>
            <a:ext cx="119786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OWL结果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导出下载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2057400" y="1828800"/>
            <a:ext cx="457200" cy="59436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251960" y="1828800"/>
            <a:ext cx="457200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645920" y="2240280"/>
            <a:ext cx="3977640" cy="82296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377439" y="3429000"/>
            <a:ext cx="411481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114800" y="3429000"/>
            <a:ext cx="411480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852160" y="3429000"/>
            <a:ext cx="411480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89519" y="3429000"/>
            <a:ext cx="411481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326880" y="3429000"/>
            <a:ext cx="411480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378440" y="3794760"/>
            <a:ext cx="0" cy="91440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577840" y="2240280"/>
            <a:ext cx="2081530" cy="247015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架构重点：前端负责交互，后端编排 PDF、清洗、匹配、对齐、溯源与 OWL 导出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系统功能模块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08760"/>
            <a:ext cx="2383155" cy="147637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815" y="1600200"/>
            <a:ext cx="2139315" cy="125793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用户登录注册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JWT 鉴权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508760"/>
            <a:ext cx="2383155" cy="147637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735" y="1600200"/>
            <a:ext cx="2139315" cy="125793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 上传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单/批量 PDF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508760"/>
            <a:ext cx="2383155" cy="147637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655" y="1600200"/>
            <a:ext cx="2139315" cy="125793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本体生成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同步/异步/批量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508760"/>
            <a:ext cx="2383155" cy="147637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575" y="1600200"/>
            <a:ext cx="2139315" cy="125793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结果展示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类属性关系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7715" y="3515360"/>
            <a:ext cx="2383155" cy="147637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570" y="3606800"/>
            <a:ext cx="2139315" cy="125793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 导出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文件下载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56635" y="3515360"/>
            <a:ext cx="2383155" cy="147637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66490" y="3606800"/>
            <a:ext cx="2139315" cy="125793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数据溯源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来源检索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45555" y="3515360"/>
            <a:ext cx="2383155" cy="147637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410" y="3606800"/>
            <a:ext cx="2139315" cy="125793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日志审计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操作记录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34475" y="3515360"/>
            <a:ext cx="2383155" cy="147637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4330" y="3606800"/>
            <a:ext cx="2139315" cy="125793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管理员用户管理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用户信息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功能覆盖普通用户操作链路和管理员审计管理链路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核心业务流程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2057400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645920"/>
            <a:ext cx="1837943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上传PDF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1956816"/>
            <a:ext cx="731519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91839" y="1554480"/>
            <a:ext cx="2057400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645920"/>
            <a:ext cx="1837943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PDF解析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49240" y="1956816"/>
            <a:ext cx="731519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80759" y="1554480"/>
            <a:ext cx="2057400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1645920"/>
            <a:ext cx="1837943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数据清洗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38159" y="1956816"/>
            <a:ext cx="731521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869680" y="1554480"/>
            <a:ext cx="2057400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7" y="1645920"/>
            <a:ext cx="1837943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LLM抽取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063239"/>
            <a:ext cx="2057400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154679"/>
            <a:ext cx="1837943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Schema匹配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60320" y="3465575"/>
            <a:ext cx="731519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291839" y="3063239"/>
            <a:ext cx="2057400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01568" y="3154679"/>
            <a:ext cx="1837943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本体对齐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49240" y="3465575"/>
            <a:ext cx="731519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080759" y="3063239"/>
            <a:ext cx="2057400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0488" y="3154679"/>
            <a:ext cx="1837943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OWL生成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138159" y="3465575"/>
            <a:ext cx="731521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869680" y="3063239"/>
            <a:ext cx="2057400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79407" y="3154679"/>
            <a:ext cx="1837943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展示/导出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20275" y="2276856"/>
            <a:ext cx="0" cy="442595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544955" y="2711450"/>
            <a:ext cx="8275320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94360" y="5349240"/>
            <a:ext cx="11018520" cy="68580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458968"/>
            <a:ext cx="10652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系统采用规则草稿 + 大模型语义增强的混合构建方式：规则保证基础结构稳定，大模型负责语义理解、类属性关系补充和结果增强。</a:t>
            </a:r>
          </a:p>
        </p:txBody>
      </p:sp>
      <p:cxnSp>
        <p:nvCxnSpPr>
          <p:cNvPr id="35" name="Connector 30"/>
          <p:cNvCxnSpPr/>
          <p:nvPr/>
        </p:nvCxnSpPr>
        <p:spPr>
          <a:xfrm>
            <a:off x="1544955" y="2711196"/>
            <a:ext cx="0" cy="35179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 文档解析与清洗 DFD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32588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834640"/>
            <a:ext cx="110642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用户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外部实体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554480"/>
            <a:ext cx="196596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8" y="1645920"/>
            <a:ext cx="1746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1 PDF文件接收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PDF → file_path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4023360"/>
            <a:ext cx="1965960" cy="731520"/>
          </a:xfrm>
          <a:prstGeom prst="roundRect">
            <a:avLst/>
          </a:prstGeom>
          <a:solidFill>
            <a:srgbClr val="F5FA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2928" y="4114800"/>
            <a:ext cx="1746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临时文件缓存池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uploads/user_id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1554480"/>
            <a:ext cx="214884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41848" y="1645920"/>
            <a:ext cx="192938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2 文本/表格提取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file_path → raw_text/tables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554480"/>
            <a:ext cx="224028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645920"/>
            <a:ext cx="202082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3 清洗标准化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raw_text/tables → clean_data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4023360"/>
            <a:ext cx="2240280" cy="731520"/>
          </a:xfrm>
          <a:prstGeom prst="roundRect">
            <a:avLst/>
          </a:prstGeom>
          <a:solidFill>
            <a:srgbClr val="F5FFFB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7928" y="4114800"/>
            <a:ext cx="202082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2.3 匹配模块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Schema Matcher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057400" y="1920240"/>
            <a:ext cx="685800" cy="118872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703320" y="2286000"/>
            <a:ext cx="0" cy="173736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709160" y="1920240"/>
            <a:ext cx="822960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80960" y="1920240"/>
            <a:ext cx="777240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555480" y="2286000"/>
            <a:ext cx="0" cy="173736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DFD 输出 clean_data，向后续 Schema 匹配与本体构建模块传递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大模型智能体设计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OpenAI 兼容 LLMService，支持 base_url、model、api_key 配置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Prompt 要求 strict JSON 输出，禁止 Markdown 包裹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不固定 Student/Teacher/School 等类名，由记录语义和候选领域动态生成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规则草稿保障基础可用，大模型负责对象关系与语义增强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LLM 失败或超时时保留规则兜底结果，避免流程整体中断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7" y="1600200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教育标准文档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532888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7" y="2624328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JSON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结构化本体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557016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3648456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标准导出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输出重点：classes / datatype_properties / object_properties / relations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本体构建数据结构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5212080" cy="44805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500" b="0">
                <a:solidFill>
                  <a:srgbClr val="104678"/>
                </a:solidFill>
                <a:latin typeface="Consolas" panose="020B0609020204030204"/>
              </a:defRPr>
            </a:pPr>
            <a:r>
              <a:t>{</a:t>
            </a:r>
            <a:br/>
            <a:r>
              <a:t>  "classes": [{"id":"EducationResource","label":"教育资源"}],</a:t>
            </a:r>
            <a:br/>
            <a:r>
              <a:t>  "datatype_properties": [</a:t>
            </a:r>
            <a:br/>
            <a:r>
              <a:t>    {"id":"school_code","label":"学校代码",</a:t>
            </a:r>
            <a:br/>
            <a:r>
              <a:t>     "domain":"School","range":"string"}</a:t>
            </a:r>
            <a:br/>
            <a:r>
              <a:t>  ],</a:t>
            </a:r>
            <a:br/>
            <a:r>
              <a:t>  "relations": [</a:t>
            </a:r>
            <a:br/>
            <a:r>
              <a:t>    {"subject":"School","predicate":"offersCourse",</a:t>
            </a:r>
            <a:br/>
            <a:r>
              <a:t>     "object":"Course"}</a:t>
            </a:r>
            <a:br/>
            <a:r>
              <a:t>  ]</a:t>
            </a:r>
            <a:br/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417320"/>
            <a:ext cx="4800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class：概念类，如 EducationResource、School、Course</a:t>
            </a:r>
          </a:p>
          <a:p>
            <a:pPr>
              <a:spcAft>
                <a:spcPts val="1000"/>
              </a:spcAft>
              <a:defRPr sz="16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property：数据属性，描述类的字段和值类型</a:t>
            </a:r>
          </a:p>
          <a:p>
            <a:pPr>
              <a:spcAft>
                <a:spcPts val="1000"/>
              </a:spcAft>
              <a:defRPr sz="16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relation：对象关系，描述类与类之间的语义连接</a:t>
            </a:r>
          </a:p>
          <a:p>
            <a:pPr>
              <a:spcAft>
                <a:spcPts val="1000"/>
              </a:spcAft>
              <a:defRPr sz="16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domain：属性或关系所属主体</a:t>
            </a:r>
          </a:p>
          <a:p>
            <a:pPr>
              <a:spcAft>
                <a:spcPts val="1000"/>
              </a:spcAft>
              <a:defRPr sz="16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range：属性值类型或关系目标类</a:t>
            </a:r>
          </a:p>
          <a:p>
            <a:pPr>
              <a:spcAft>
                <a:spcPts val="1000"/>
              </a:spcAft>
              <a:defRPr sz="16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label：中文名称，用于展示和解释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核心结构与 OWL 生成器直接对应：Class / DatatypeProperty / ObjectProperty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Schema Matcher 设计与实现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325880"/>
          <a:ext cx="676656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</a:tblGrid>
              <a:tr h="531495"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非统一字段</a:t>
                      </a:r>
                    </a:p>
                  </a:txBody>
                  <a:tcPr marL="36576" marR="36576" marT="18288" marB="18288">
                    <a:solidFill>
                      <a:srgbClr val="1456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标准字段</a:t>
                      </a:r>
                    </a:p>
                  </a:txBody>
                  <a:tcPr marL="36576" marR="36576" marT="18288" marB="18288">
                    <a:solidFill>
                      <a:srgbClr val="1456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 marL="36576" marR="36576" marT="18288" marB="18288">
                    <a:solidFill>
                      <a:srgbClr val="1456A8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课程名称 / 课程名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course_name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业务示例映射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学校名称 / 学校名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school_name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业务示例映射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专业代码 / 专业编号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major_code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业务示例映射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编号 / 代码 / code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id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代码实际标准字段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数据项名 / name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item_name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代码实际标准字段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中文简称 / label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cn_name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代码实际标准字段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类型 / data_type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data_type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代码实际标准字段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818120" y="1508760"/>
            <a:ext cx="3520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不是简单去重，而是建立稳定 JSON 合同</a:t>
            </a:r>
          </a:p>
          <a:p>
            <a:pPr>
              <a:spcAft>
                <a:spcPts val="1000"/>
              </a:spcAft>
              <a:defRPr sz="15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为后续候选领域识别提供 candidate_domains</a:t>
            </a:r>
          </a:p>
          <a:p>
            <a:pPr>
              <a:spcAft>
                <a:spcPts val="1000"/>
              </a:spcAft>
              <a:defRPr sz="15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保留 source_table / source_section 等来源字段</a:t>
            </a:r>
          </a:p>
          <a:p>
            <a:pPr>
              <a:spcAft>
                <a:spcPts val="1000"/>
              </a:spcAft>
              <a:defRPr sz="15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适配教育标准表格中不同表头写法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作用：把 clean_data 中不统一字段映射为后续本体构建可消费的标准字段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Ontology Aligner 设计与实现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标准化 classes：清理噪声标签，按 id/name/label 去重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合并 datatype_properties：按 domain + name 组合去重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规范 object_properties：按 domain + predicate + range 去重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relations 按 subject/source + predicate/type + object/target 去重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跨文件场景支持 alignment_mappings 与 source_mappings 记录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7" y="1600200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教育标准文档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532888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7" y="2624328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JSON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结构化本体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557016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3648456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标准导出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解决问题：重复概念、重复属性、命名不一致、关系重复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 Generator 设计与实现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将 ontology JSON 转换为 RDF/XML 格式 OWL 文件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生成 owl:Class，并支持 rdfs:subClassOf 层级关系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生成 owl:DatatypeProperty，自动映射 XSD 数据类型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生成 owl:ObjectProperty，兼容 relations 转对象属性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写入 edu:sourceFile、edu:sourcePage、edu:sourceRow 等溯源注释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7" y="1600200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教育标准文档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532888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7" y="2624328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JSON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结构化本体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557016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3648456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标准导出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导出文件：backend/data/exports/{user_id}/ontology_{timestamp}.owl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前后端接口设计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143000"/>
          <a:ext cx="1069848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15290"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接口</a:t>
                      </a:r>
                    </a:p>
                  </a:txBody>
                  <a:tcPr marL="36576" marR="36576" marT="18288" marB="18288">
                    <a:solidFill>
                      <a:srgbClr val="1456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</a:t>
                      </a:r>
                    </a:p>
                  </a:txBody>
                  <a:tcPr marL="36576" marR="36576" marT="18288" marB="18288">
                    <a:solidFill>
                      <a:srgbClr val="1456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功能</a:t>
                      </a:r>
                    </a:p>
                  </a:txBody>
                  <a:tcPr marL="36576" marR="36576" marT="18288" marB="18288">
                    <a:solidFill>
                      <a:srgbClr val="1456A8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/auth/register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POST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用户注册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/auth/login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POST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用户登录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/upload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POST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上传 PDF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/upload/batch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POST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批量上传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/generate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POST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同步生成本体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/generate/start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POST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异步生成任务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/generate/progress/{job_id}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GET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查询进度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/generate/batch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POST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批量生成/融合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/export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GET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导出 OWL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/sources/search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GET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溯源检索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/logs /admin/logs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GET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日志与审计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前端页面设计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417320"/>
            <a:ext cx="214884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08760"/>
            <a:ext cx="19293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Auth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登录注册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79" y="1417320"/>
            <a:ext cx="214884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7" y="1508760"/>
            <a:ext cx="19293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Dashboard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用户工作台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17320"/>
            <a:ext cx="214884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508760"/>
            <a:ext cx="19293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Upload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单/批量上传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1417320"/>
            <a:ext cx="214884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7" y="1508760"/>
            <a:ext cx="19293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Result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本体结果/下载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788920"/>
            <a:ext cx="214884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2880360"/>
            <a:ext cx="19293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DataSourceSearch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数据源溯源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1879" y="2788920"/>
            <a:ext cx="214884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21607" y="2880360"/>
            <a:ext cx="19293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AuditCenter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审计中心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788920"/>
            <a:ext cx="214884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2880360"/>
            <a:ext cx="19293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GenerationRecords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生成记录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19" y="2788920"/>
            <a:ext cx="214884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9447" y="2880360"/>
            <a:ext cx="19293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UserManagement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管理员用户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前端使用 Vue 3 + Vite + axios，统一 baseURL=/api，经 Vite proxy 转发到 127.0.0.1:8000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数据溯源设计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build_trace_map 将本体元素反查 clean_data.records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记录来源文件、页面、表格编号、行索引和字段内容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/sources/search 支持按类、属性、关系、来源文件检索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OWL 中写入 sourceFile、sourcePage、sourceRow 等注释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已实现基础溯源；表格行级定位依赖 PDF 表格抽取质量，仍需继续完善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7" y="1600200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教育标准文档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532888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7" y="2624328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JSON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结构化本体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557016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3648456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标准导出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答辩表述：已实现文件级/页面级/表格级基础溯源，精确行级溯源待增强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日志与用户管理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用户注册登录与 Bearer Token 鉴权，管理员角色可查看用户信息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系统运行日志写入 backend/data/logs/system.log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SQLite 记录 operation_logs、generation_records、question_records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上传、生成、导出、批量生成等关键操作均写入审计记录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前端提供个人记录页、审计中心和管理员日志页面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7" y="1600200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教育标准文档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532888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7" y="2624328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JSON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结构化本体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557016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3648456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标准导出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支撑能力：可追踪、可审计、便于演示与问题排查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关键问题与解决方案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18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325880"/>
          <a:ext cx="104241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5212080"/>
              </a:tblGrid>
              <a:tr h="613954"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关键问题</a:t>
                      </a:r>
                    </a:p>
                  </a:txBody>
                  <a:tcPr marL="36576" marR="36576" marT="18288" marB="18288">
                    <a:solidFill>
                      <a:srgbClr val="1456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解决方案</a:t>
                      </a:r>
                    </a:p>
                  </a:txBody>
                  <a:tcPr marL="36576" marR="36576" marT="18288" marB="18288">
                    <a:solidFill>
                      <a:srgbClr val="1456A8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前后端端口不一致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Vite proxy 将 /api 转发到 8000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/generate 找不到 PDF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upload 返回 file_path，workflow 二次校验路径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LLM 调用失败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检查 .env、base_url、model、api_key，并保留规则兜底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本体不准确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优化 Prompt、结构校验、按记录生成规则草稿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OWL 不完整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补充 Class/DataProperty/ObjectProperty 生成逻辑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表格提取失败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pdfplumber 逐页提取，按表头别名清洗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项目创新点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大模型驱动教育本体构建，提升语义识别能力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PDF 非结构化/半结构化数据自动转结构化本体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Schema 匹配 + 本体对齐结合，多层次标准化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支持 OWL 标准导出并保留来源信息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Vue + FastAPI 前后端一体化可视化操作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增加日志审计与数据溯源，提升系统可信度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7" y="1600200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教育标准文档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532888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7" y="2624328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JSON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结构化本体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557016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3648456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标准导出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核心实现成果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08760"/>
            <a:ext cx="288036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00200"/>
            <a:ext cx="2660904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单/批量上传</a:t>
            </a:r>
          </a:p>
          <a:p>
            <a:pPr algn="ctr">
              <a:defRPr sz="11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/upload 与 /upload/batch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508760"/>
            <a:ext cx="288036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600200"/>
            <a:ext cx="2660904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同步/异步生成</a:t>
            </a:r>
          </a:p>
          <a:p>
            <a:pPr algn="ctr">
              <a:defRPr sz="11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/generate 与 /generate/start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08760"/>
            <a:ext cx="288036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600200"/>
            <a:ext cx="2660904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本体结构输出</a:t>
            </a:r>
          </a:p>
          <a:p>
            <a:pPr algn="ctr">
              <a:defRPr sz="11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classes / datatype_properties / object_properties / relations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926080"/>
            <a:ext cx="288036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017520"/>
            <a:ext cx="2660904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 文件导出</a:t>
            </a:r>
          </a:p>
          <a:p>
            <a:pPr algn="ctr">
              <a:defRPr sz="11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标准 RDF/XML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2926080"/>
            <a:ext cx="288036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8" y="3017520"/>
            <a:ext cx="2660904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溯源与审计</a:t>
            </a:r>
          </a:p>
          <a:p>
            <a:pPr algn="ctr">
              <a:defRPr sz="11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trace_map + system.log + SQLite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核心成果覆盖“上传、构建、导出、追踪、审计”完整答辩闭环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成员分工与协作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325880"/>
          <a:ext cx="11018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成员</a:t>
                      </a:r>
                    </a:p>
                  </a:txBody>
                  <a:tcPr marL="36576" marR="36576" marT="18288" marB="18288">
                    <a:solidFill>
                      <a:srgbClr val="1456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主要分工</a:t>
                      </a:r>
                    </a:p>
                  </a:txBody>
                  <a:tcPr marL="36576" marR="36576" marT="18288" marB="18288">
                    <a:solidFill>
                      <a:srgbClr val="1456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负责内容</a:t>
                      </a:r>
                    </a:p>
                  </a:txBody>
                  <a:tcPr marL="36576" marR="36576" marT="18288" marB="18288">
                    <a:solidFill>
                      <a:srgbClr val="1456A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程梓轩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后端主控与接口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FastAPI 入口；上传/生成/导出接口；工作流编排；登录注册接口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杨慧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数据处理模块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PDF 文档解析；文本/表格提取；数据清洗标准化；clean_data 输出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孙艺凯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大模型与本体生成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Prompt 设计；LLMService 调用；类/属性/关系抽取；本体 JSON 生成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陈娟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前端与工程整合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Vue 页面；Schema Matcher；本体对齐；OWL 生成；结果展示与导出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22960" y="5349240"/>
            <a:ext cx="10515600" cy="658368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458968"/>
            <a:ext cx="10149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团队采用接口先行方式，统一 state 数据结构和模块输入输出，实现前后端和各模块协同。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系统运行结果展示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00200"/>
            <a:ext cx="4389120" cy="1078992"/>
          </a:xfrm>
          <a:prstGeom prst="roundRect">
            <a:avLst/>
          </a:prstGeom>
          <a:solidFill>
            <a:srgbClr val="FCFE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40"/>
            <a:ext cx="4169663" cy="950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上传成功</a:t>
            </a:r>
          </a:p>
          <a:p>
            <a:pPr algn="ctr">
              <a:defRPr sz="11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上传目录：backend/data/uploads</a:t>
            </a:r>
            <a:br/>
            <a:r>
              <a:t>支持用户目录隔离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4389120" cy="1078992"/>
          </a:xfrm>
          <a:prstGeom prst="roundRect">
            <a:avLst/>
          </a:prstGeom>
          <a:solidFill>
            <a:srgbClr val="FCFE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1691640"/>
            <a:ext cx="4169663" cy="950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生成结果</a:t>
            </a:r>
          </a:p>
          <a:p>
            <a:pPr algn="ctr">
              <a:defRPr sz="11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结构化记录：654</a:t>
            </a:r>
            <a:br/>
            <a:r>
              <a:t>输出本体 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00400"/>
            <a:ext cx="4389120" cy="1078992"/>
          </a:xfrm>
          <a:prstGeom prst="roundRect">
            <a:avLst/>
          </a:prstGeom>
          <a:solidFill>
            <a:srgbClr val="FCFE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291840"/>
            <a:ext cx="4169663" cy="950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 导出</a:t>
            </a:r>
          </a:p>
          <a:p>
            <a:pPr algn="ctr">
              <a:defRPr sz="11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ontology_20260709_092814.owl</a:t>
            </a:r>
            <a:br/>
            <a:r>
              <a:t>标准 RDF/XML 文件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200400"/>
            <a:ext cx="4389120" cy="1078992"/>
          </a:xfrm>
          <a:prstGeom prst="roundRect">
            <a:avLst/>
          </a:prstGeom>
          <a:solidFill>
            <a:srgbClr val="FCFE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3291840"/>
            <a:ext cx="4169663" cy="950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日志记录</a:t>
            </a:r>
          </a:p>
          <a:p>
            <a:pPr algn="ctr">
              <a:defRPr sz="11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system.log / SQLite</a:t>
            </a:r>
            <a:br/>
            <a:r>
              <a:t>[2026-07-09 09:28:16] [INFO] Batch ontolog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92040"/>
            <a:ext cx="1042416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defRPr sz="1200" b="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真实产物：structured_20260709_092705.json；trace_20260709_092707.json；溯源项 688，已匹配 654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系统运行结果展示：以项目目录中的结构化数据、溯源文件、OWL 文件和日志为依据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325880"/>
            <a:ext cx="4983480" cy="3429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417320"/>
            <a:ext cx="4764024" cy="3300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总结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完成 PDF 到 OWL 自动化流程</a:t>
            </a:r>
            <a:br/>
            <a:r>
              <a:t>实现 Vue + FastAPI 前后端联动</a:t>
            </a:r>
            <a:br/>
            <a:r>
              <a:t>实现规则草稿与 LLM 辅助本体构建</a:t>
            </a:r>
            <a:br/>
            <a:r>
              <a:t>形成日志审计与基础数据溯源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25880"/>
            <a:ext cx="4983480" cy="3429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417320"/>
            <a:ext cx="4764024" cy="3300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展望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提升关系识别准确率</a:t>
            </a:r>
            <a:br/>
            <a:r>
              <a:t>支持多文件批量构建与融合</a:t>
            </a:r>
            <a:br/>
            <a:r>
              <a:t>完善表格行级精准溯源</a:t>
            </a:r>
            <a:br/>
            <a:r>
              <a:t>增加知识图谱可视化</a:t>
            </a:r>
            <a:br/>
            <a:r>
              <a:t>引入人工审核闭环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答辩收束：已完成可运行闭环，后续重点提升精度、可视化与人机协同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Microsoft YaHei"/>
              </a:defRPr>
            </a:pPr>
            <a:r>
              <a:t>系统运行效果展示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1874519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1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16916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F2344"/>
                </a:solidFill>
                <a:latin typeface="Microsoft YaHei"/>
              </a:defRPr>
            </a:pPr>
            <a:r>
              <a:t>PDF上传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27632" y="1773936"/>
            <a:ext cx="0" cy="210312"/>
          </a:xfrm>
          <a:prstGeom prst="line">
            <a:avLst/>
          </a:prstGeom>
          <a:ln w="1905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85800" y="2011680"/>
            <a:ext cx="1874519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1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84832"/>
            <a:ext cx="16916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F2344"/>
                </a:solidFill>
                <a:latin typeface="Microsoft YaHei"/>
              </a:defRPr>
            </a:pPr>
            <a:r>
              <a:t>文档解析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27632" y="2487168"/>
            <a:ext cx="0" cy="210312"/>
          </a:xfrm>
          <a:prstGeom prst="line">
            <a:avLst/>
          </a:prstGeom>
          <a:ln w="1905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5800" y="2724912"/>
            <a:ext cx="1874519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1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798064"/>
            <a:ext cx="16916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F2344"/>
                </a:solidFill>
                <a:latin typeface="Microsoft YaHei"/>
              </a:defRPr>
            </a:pPr>
            <a:r>
              <a:t>数据清洗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7632" y="3200400"/>
            <a:ext cx="0" cy="210312"/>
          </a:xfrm>
          <a:prstGeom prst="line">
            <a:avLst/>
          </a:prstGeom>
          <a:ln w="1905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5800" y="3438144"/>
            <a:ext cx="1874519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1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11296"/>
            <a:ext cx="16916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F2344"/>
                </a:solidFill>
                <a:latin typeface="Microsoft YaHei"/>
              </a:defRPr>
            </a:pPr>
            <a:r>
              <a:t>本体生成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27632" y="3913631"/>
            <a:ext cx="0" cy="210313"/>
          </a:xfrm>
          <a:prstGeom prst="line">
            <a:avLst/>
          </a:prstGeom>
          <a:ln w="1905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5800" y="4151376"/>
            <a:ext cx="1874519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1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24528"/>
            <a:ext cx="16916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F2344"/>
                </a:solidFill>
                <a:latin typeface="Microsoft YaHei"/>
              </a:defRPr>
            </a:pPr>
            <a:r>
              <a:t>OWL导出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627632" y="4626864"/>
            <a:ext cx="0" cy="210312"/>
          </a:xfrm>
          <a:prstGeom prst="line">
            <a:avLst/>
          </a:prstGeom>
          <a:ln w="1905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85800" y="4864608"/>
            <a:ext cx="1874519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1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937760"/>
            <a:ext cx="16916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F2344"/>
                </a:solidFill>
                <a:latin typeface="Microsoft YaHei"/>
              </a:defRPr>
            </a:pPr>
            <a:r>
              <a:t>溯源审计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577840"/>
            <a:ext cx="2084831" cy="411480"/>
          </a:xfrm>
          <a:prstGeom prst="roundRect">
            <a:avLst/>
          </a:prstGeom>
          <a:solidFill>
            <a:srgbClr val="EBF7FF"/>
          </a:solidFill>
          <a:ln w="12700">
            <a:solidFill>
              <a:srgbClr val="B1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650992"/>
            <a:ext cx="1901951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F2344"/>
                </a:solidFill>
                <a:latin typeface="Microsoft YaHei"/>
              </a:defRPr>
            </a:pPr>
            <a:r>
              <a:t>完整闭环流程</a:t>
            </a:r>
          </a:p>
          <a:p>
            <a:pPr algn="ctr">
              <a:defRPr sz="850">
                <a:solidFill>
                  <a:srgbClr val="5D6F88"/>
                </a:solidFill>
                <a:latin typeface="Microsoft YaHei"/>
              </a:defRPr>
            </a:pPr>
            <a:r>
              <a:t>PDF输入 → 智能解析 → 本体生成 → OWL导出 → 数据溯源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12344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2344"/>
                </a:solidFill>
                <a:latin typeface="Microsoft YaHei"/>
              </a:defRPr>
            </a:pPr>
            <a:r>
              <a:t>登录/用户工作台截图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63240" y="1563624"/>
            <a:ext cx="3474720" cy="1298448"/>
          </a:xfrm>
          <a:prstGeom prst="rect">
            <a:avLst/>
          </a:prstGeom>
          <a:solidFill>
            <a:srgbClr val="E8EDF4"/>
          </a:solidFill>
          <a:ln>
            <a:solidFill>
              <a:srgbClr val="B1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4680" y="2103120"/>
            <a:ext cx="3291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D6F88"/>
                </a:solidFill>
                <a:latin typeface="Microsoft YaHei"/>
              </a:defRPr>
            </a:pPr>
            <a:r>
              <a:t>【截图区域】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295351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D6F88"/>
                </a:solidFill>
                <a:latin typeface="Microsoft YaHei"/>
              </a:defRPr>
            </a:pPr>
            <a:r>
              <a:t>展示：登录入口、用户工作台、功能导航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12344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2344"/>
                </a:solidFill>
                <a:latin typeface="Microsoft YaHei"/>
              </a:defRPr>
            </a:pPr>
            <a:r>
              <a:t>PDF上传与生成任务截图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1563624"/>
            <a:ext cx="3474720" cy="1298448"/>
          </a:xfrm>
          <a:prstGeom prst="rect">
            <a:avLst/>
          </a:prstGeom>
          <a:solidFill>
            <a:srgbClr val="E8EDF4"/>
          </a:solidFill>
          <a:ln>
            <a:solidFill>
              <a:srgbClr val="B1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2103120"/>
            <a:ext cx="3291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D6F88"/>
                </a:solidFill>
                <a:latin typeface="Microsoft YaHei"/>
              </a:defRPr>
            </a:pPr>
            <a:r>
              <a:t>【截图区域】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95351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D6F88"/>
                </a:solidFill>
                <a:latin typeface="Microsoft YaHei"/>
              </a:defRPr>
            </a:pPr>
            <a:r>
              <a:t>展示：PDF 上传、任务配置、生成进度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35661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2344"/>
                </a:solidFill>
                <a:latin typeface="Microsoft YaHei"/>
              </a:defRPr>
            </a:pPr>
            <a:r>
              <a:t>本体生成结果截图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63240" y="3895344"/>
            <a:ext cx="3474720" cy="1298448"/>
          </a:xfrm>
          <a:prstGeom prst="rect">
            <a:avLst/>
          </a:prstGeom>
          <a:solidFill>
            <a:srgbClr val="E8EDF4"/>
          </a:solidFill>
          <a:ln>
            <a:solidFill>
              <a:srgbClr val="B1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54680" y="4434840"/>
            <a:ext cx="3291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D6F88"/>
                </a:solidFill>
                <a:latin typeface="Microsoft YaHei"/>
              </a:defRPr>
            </a:pPr>
            <a:r>
              <a:t>【截图区域】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54680" y="5285231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D6F88"/>
                </a:solidFill>
                <a:latin typeface="Microsoft YaHei"/>
              </a:defRPr>
            </a:pPr>
            <a:r>
              <a:t>展示：classes / properties / relations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35661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2344"/>
                </a:solidFill>
                <a:latin typeface="Microsoft YaHei"/>
              </a:defRPr>
            </a:pPr>
            <a:r>
              <a:t>OWL导出与下载截图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3895344"/>
            <a:ext cx="3474720" cy="1298448"/>
          </a:xfrm>
          <a:prstGeom prst="rect">
            <a:avLst/>
          </a:prstGeom>
          <a:solidFill>
            <a:srgbClr val="E8EDF4"/>
          </a:solidFill>
          <a:ln>
            <a:solidFill>
              <a:srgbClr val="B1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4434840"/>
            <a:ext cx="3291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D6F88"/>
                </a:solidFill>
                <a:latin typeface="Microsoft YaHei"/>
              </a:defRPr>
            </a:pPr>
            <a:r>
              <a:t>【截图区域】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5285231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D6F88"/>
                </a:solidFill>
                <a:latin typeface="Microsoft YaHei"/>
              </a:defRPr>
            </a:pPr>
            <a:r>
              <a:t>展示：OWL 文件导出、下载入口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Microsoft YaHei"/>
              </a:defRPr>
            </a:pPr>
            <a:r>
              <a:t>本体生成成果统计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34440"/>
            <a:ext cx="2240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1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307592"/>
            <a:ext cx="20574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F2344"/>
                </a:solidFill>
                <a:latin typeface="Microsoft YaHei"/>
              </a:defRPr>
            </a:pPr>
            <a:r>
              <a:t>结构化记录数量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64208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77DF5"/>
                </a:solidFill>
                <a:latin typeface="Microsoft YaHei"/>
              </a:defRPr>
            </a:pPr>
            <a:r>
              <a:t>XXX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47872" y="1234440"/>
            <a:ext cx="2240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1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307592"/>
            <a:ext cx="20574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F2344"/>
                </a:solidFill>
                <a:latin typeface="Microsoft YaHei"/>
              </a:defRPr>
            </a:pPr>
            <a:r>
              <a:t>本体类数量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1664208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77DF5"/>
                </a:solidFill>
                <a:latin typeface="Microsoft YaHei"/>
              </a:defRPr>
            </a:pPr>
            <a:r>
              <a:t>XXX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1234440"/>
            <a:ext cx="2240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1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307592"/>
            <a:ext cx="20574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F2344"/>
                </a:solidFill>
                <a:latin typeface="Microsoft YaHei"/>
              </a:defRPr>
            </a:pPr>
            <a:r>
              <a:t>数据属性数量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664208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77DF5"/>
                </a:solidFill>
                <a:latin typeface="Microsoft YaHei"/>
              </a:defRPr>
            </a:pPr>
            <a:r>
              <a:t>XXX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17152" y="1234440"/>
            <a:ext cx="2240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1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8592" y="1307592"/>
            <a:ext cx="20574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F2344"/>
                </a:solidFill>
                <a:latin typeface="Microsoft YaHei"/>
              </a:defRPr>
            </a:pPr>
            <a:r>
              <a:t>对象关系数量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1664208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77DF5"/>
                </a:solidFill>
                <a:latin typeface="Microsoft YaHei"/>
              </a:defRPr>
            </a:pPr>
            <a:r>
              <a:t>XXX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49808" y="2423160"/>
          <a:ext cx="47091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/>
                <a:gridCol w="2354580"/>
              </a:tblGrid>
              <a:tr h="37147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marL="27432" marR="27432" marT="18288" marB="18288">
                    <a:solidFill>
                      <a:srgbClr val="1456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结果</a:t>
                      </a:r>
                    </a:p>
                  </a:txBody>
                  <a:tcPr marL="27432" marR="27432" marT="18288" marB="18288">
                    <a:solidFill>
                      <a:srgbClr val="1456A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上传文件数量</a:t>
                      </a:r>
                    </a:p>
                  </a:txBody>
                  <a:tcPr marL="27432" marR="27432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XXX</a:t>
                      </a:r>
                    </a:p>
                  </a:txBody>
                  <a:tcPr marL="27432" marR="27432" marT="18288" marB="18288">
                    <a:solidFill>
                      <a:srgbClr val="F7FAF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解析记录数量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XXX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classes</a:t>
                      </a:r>
                    </a:p>
                  </a:txBody>
                  <a:tcPr marL="27432" marR="27432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XXX</a:t>
                      </a:r>
                    </a:p>
                  </a:txBody>
                  <a:tcPr marL="27432" marR="27432" marT="18288" marB="18288">
                    <a:solidFill>
                      <a:srgbClr val="F7FAF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datatype_properties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XXX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object_properties</a:t>
                      </a:r>
                    </a:p>
                  </a:txBody>
                  <a:tcPr marL="27432" marR="27432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XXX</a:t>
                      </a:r>
                    </a:p>
                  </a:txBody>
                  <a:tcPr marL="27432" marR="27432" marT="18288" marB="18288">
                    <a:solidFill>
                      <a:srgbClr val="F7FAF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relations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XXX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生成耗时</a:t>
                      </a:r>
                    </a:p>
                  </a:txBody>
                  <a:tcPr marL="27432" marR="27432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XXX</a:t>
                      </a:r>
                    </a:p>
                  </a:txBody>
                  <a:tcPr marL="27432" marR="27432" marT="18288" marB="18288">
                    <a:solidFill>
                      <a:srgbClr val="F7FA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989320" y="2423160"/>
            <a:ext cx="5440680" cy="384048"/>
          </a:xfrm>
          <a:prstGeom prst="roundRect">
            <a:avLst/>
          </a:prstGeom>
          <a:solidFill>
            <a:srgbClr val="EBF7FF"/>
          </a:solidFill>
          <a:ln w="12700">
            <a:solidFill>
              <a:srgbClr val="B1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59" y="2496312"/>
            <a:ext cx="5257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F2344"/>
                </a:solidFill>
                <a:latin typeface="Microsoft YaHei"/>
              </a:defRPr>
            </a:pPr>
            <a:r>
              <a:t>本体结构示例</a:t>
            </a:r>
          </a:p>
          <a:p>
            <a:pPr algn="ctr">
              <a:defRPr sz="900">
                <a:solidFill>
                  <a:srgbClr val="5D6F88"/>
                </a:solidFill>
                <a:latin typeface="Microsoft YaHei"/>
              </a:defRPr>
            </a:pPr>
            <a:r>
              <a:t>仅展示结构，后续填入真实输出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2971800"/>
            <a:ext cx="5440680" cy="2423160"/>
          </a:xfrm>
          <a:prstGeom prst="roundRect">
            <a:avLst/>
          </a:prstGeom>
          <a:solidFill>
            <a:srgbClr val="F5F9FD"/>
          </a:solidFill>
          <a:ln w="12700">
            <a:solidFill>
              <a:srgbClr val="B1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59" y="3044952"/>
            <a:ext cx="5257800" cy="2313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F2344"/>
                </a:solidFill>
                <a:latin typeface="Microsoft YaHe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135624" y="3108960"/>
            <a:ext cx="514807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4B7D"/>
                </a:solidFill>
                <a:latin typeface="Consolas"/>
              </a:defRPr>
            </a:pPr>
            <a:r>
              <a:t>{</a:t>
            </a:r>
            <a:br/>
            <a:r>
              <a:t>  "classes": [],</a:t>
            </a:r>
            <a:br/>
            <a:r>
              <a:t>  "properties": [],</a:t>
            </a:r>
            <a:br/>
            <a:r>
              <a:t>  "relations": []</a:t>
            </a:r>
            <a:br/>
            <a: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742432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F88"/>
                </a:solidFill>
                <a:latin typeface="Microsoft YaHei"/>
              </a:defRPr>
            </a:pPr>
            <a:r>
              <a:t>说明：本页所有数值使用 XXX 占位，后续由实际运行统计人工填入。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Microsoft YaHei"/>
              </a:defRPr>
            </a:pPr>
            <a:r>
              <a:t>OWL导出与可信溯源成果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170432"/>
            <a:ext cx="5166360" cy="384048"/>
          </a:xfrm>
          <a:prstGeom prst="roundRect">
            <a:avLst/>
          </a:prstGeom>
          <a:solidFill>
            <a:srgbClr val="EBF7FF"/>
          </a:solidFill>
          <a:ln w="12700">
            <a:solidFill>
              <a:srgbClr val="B1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243584"/>
            <a:ext cx="4983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F2344"/>
                </a:solidFill>
                <a:latin typeface="Microsoft YaHei"/>
              </a:defRPr>
            </a:pPr>
            <a:r>
              <a:t>OWL 导出展示</a:t>
            </a:r>
          </a:p>
          <a:p>
            <a:pPr algn="ctr">
              <a:defRPr sz="900">
                <a:solidFill>
                  <a:srgbClr val="5D6F88"/>
                </a:solidFill>
                <a:latin typeface="Microsoft YaHei"/>
              </a:defRPr>
            </a:pPr>
            <a:r>
              <a:t>文件、元信息与标准结构占位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737360"/>
            <a:ext cx="2331720" cy="1234440"/>
          </a:xfrm>
          <a:prstGeom prst="rect">
            <a:avLst/>
          </a:prstGeom>
          <a:solidFill>
            <a:srgbClr val="E8EDF4"/>
          </a:solidFill>
          <a:ln>
            <a:solidFill>
              <a:srgbClr val="B1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44852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D6F88"/>
                </a:solidFill>
                <a:latin typeface="Microsoft YaHei"/>
              </a:defRPr>
            </a:pPr>
            <a:r>
              <a:t>【文件截图占位】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1810512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A44"/>
                </a:solidFill>
                <a:latin typeface="Microsoft YaHei"/>
              </a:defRPr>
            </a:pPr>
            <a:r>
              <a:t>文件名称：XXX.owl</a:t>
            </a:r>
            <a:br/>
            <a:r>
              <a:t>生成时间：XXXX</a:t>
            </a:r>
            <a:br/>
            <a:r>
              <a:t>文件大小：XXX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4663440" cy="1600200"/>
          </a:xfrm>
          <a:prstGeom prst="roundRect">
            <a:avLst/>
          </a:prstGeom>
          <a:solidFill>
            <a:srgbClr val="F5F9FD"/>
          </a:solidFill>
          <a:ln w="12700">
            <a:solidFill>
              <a:srgbClr val="B1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10712"/>
            <a:ext cx="4480559" cy="1490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F2344"/>
                </a:solidFill>
                <a:latin typeface="Microsoft YaHe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014983" y="3474720"/>
            <a:ext cx="4370831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C4B7D"/>
                </a:solidFill>
                <a:latin typeface="Consolas"/>
              </a:defRPr>
            </a:pPr>
            <a:r>
              <a:t>&lt;owl:Class&gt;</a:t>
            </a:r>
            <a:br/>
            <a:br/>
            <a:r>
              <a:t>&lt;owl:DatatypeProperty&gt;</a:t>
            </a:r>
            <a:br/>
            <a:br/>
            <a:r>
              <a:t>&lt;owl:ObjectProperty&gt;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170432"/>
            <a:ext cx="5166360" cy="384048"/>
          </a:xfrm>
          <a:prstGeom prst="roundRect">
            <a:avLst/>
          </a:prstGeom>
          <a:solidFill>
            <a:srgbClr val="EBF7FF"/>
          </a:solidFill>
          <a:ln w="12700">
            <a:solidFill>
              <a:srgbClr val="B1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243584"/>
            <a:ext cx="4983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F2344"/>
                </a:solidFill>
                <a:latin typeface="Microsoft YaHei"/>
              </a:defRPr>
            </a:pPr>
            <a:r>
              <a:t>数据溯源展示</a:t>
            </a:r>
          </a:p>
          <a:p>
            <a:pPr algn="ctr">
              <a:defRPr sz="900">
                <a:solidFill>
                  <a:srgbClr val="5D6F88"/>
                </a:solidFill>
                <a:latin typeface="Microsoft YaHei"/>
              </a:defRPr>
            </a:pPr>
            <a:r>
              <a:t>从 PDF 来源追踪到 OWL 元素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56832" y="1737360"/>
            <a:ext cx="16002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1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810512"/>
            <a:ext cx="14173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F2344"/>
                </a:solidFill>
                <a:latin typeface="Microsoft YaHei"/>
              </a:defRPr>
            </a:pPr>
            <a:r>
              <a:t>PDF文档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61504" y="2176272"/>
            <a:ext cx="0" cy="219456"/>
          </a:xfrm>
          <a:prstGeom prst="line">
            <a:avLst/>
          </a:prstGeom>
          <a:ln w="19050">
            <a:solidFill>
              <a:srgbClr val="1CA0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656832" y="2423160"/>
            <a:ext cx="16002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1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2" y="2496312"/>
            <a:ext cx="14173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F2344"/>
                </a:solidFill>
                <a:latin typeface="Microsoft YaHei"/>
              </a:defRPr>
            </a:pPr>
            <a:r>
              <a:t>数据字段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61504" y="2862072"/>
            <a:ext cx="0" cy="219456"/>
          </a:xfrm>
          <a:prstGeom prst="line">
            <a:avLst/>
          </a:prstGeom>
          <a:ln w="19050">
            <a:solidFill>
              <a:srgbClr val="1CA0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656832" y="3108960"/>
            <a:ext cx="16002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1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3182112"/>
            <a:ext cx="14173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F2344"/>
                </a:solidFill>
                <a:latin typeface="Microsoft YaHei"/>
              </a:defRPr>
            </a:pPr>
            <a:r>
              <a:t>本体元素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61504" y="3547872"/>
            <a:ext cx="0" cy="219456"/>
          </a:xfrm>
          <a:prstGeom prst="line">
            <a:avLst/>
          </a:prstGeom>
          <a:ln w="19050">
            <a:solidFill>
              <a:srgbClr val="1CA0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656832" y="3794760"/>
            <a:ext cx="16002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1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8272" y="3867912"/>
            <a:ext cx="14173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F2344"/>
                </a:solidFill>
                <a:latin typeface="Microsoft YaHei"/>
              </a:defRPr>
            </a:pPr>
            <a:r>
              <a:t>OWL元素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549640" y="1737360"/>
          <a:ext cx="2697480" cy="2542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370"/>
                <a:gridCol w="674370"/>
                <a:gridCol w="674370"/>
                <a:gridCol w="674370"/>
              </a:tblGrid>
              <a:tr h="635508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本体元素</a:t>
                      </a:r>
                    </a:p>
                  </a:txBody>
                  <a:tcPr marL="27432" marR="27432" marT="18288" marB="18288">
                    <a:solidFill>
                      <a:srgbClr val="1456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来源文件</a:t>
                      </a:r>
                    </a:p>
                  </a:txBody>
                  <a:tcPr marL="27432" marR="27432" marT="18288" marB="18288">
                    <a:solidFill>
                      <a:srgbClr val="1456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页码</a:t>
                      </a:r>
                    </a:p>
                  </a:txBody>
                  <a:tcPr marL="27432" marR="27432" marT="18288" marB="18288">
                    <a:solidFill>
                      <a:srgbClr val="1456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 marL="27432" marR="27432" marT="18288" marB="18288">
                    <a:solidFill>
                      <a:srgbClr val="1456A8"/>
                    </a:solidFill>
                  </a:tcPr>
                </a:tc>
              </a:tr>
              <a:tr h="635508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School</a:t>
                      </a:r>
                    </a:p>
                  </a:txBody>
                  <a:tcPr marL="27432" marR="27432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XXX.pdf</a:t>
                      </a:r>
                    </a:p>
                  </a:txBody>
                  <a:tcPr marL="27432" marR="27432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第X页</a:t>
                      </a:r>
                    </a:p>
                  </a:txBody>
                  <a:tcPr marL="27432" marR="27432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学校名称</a:t>
                      </a:r>
                    </a:p>
                  </a:txBody>
                  <a:tcPr marL="27432" marR="27432" marT="18288" marB="18288">
                    <a:solidFill>
                      <a:srgbClr val="F7FAFF"/>
                    </a:solidFill>
                  </a:tcPr>
                </a:tc>
              </a:tr>
              <a:tr h="635508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XXX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XXX.pdf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第X页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XXX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635508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XXX</a:t>
                      </a:r>
                    </a:p>
                  </a:txBody>
                  <a:tcPr marL="27432" marR="27432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XXX.pdf</a:t>
                      </a:r>
                    </a:p>
                  </a:txBody>
                  <a:tcPr marL="27432" marR="27432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第X页</a:t>
                      </a:r>
                    </a:p>
                  </a:txBody>
                  <a:tcPr marL="27432" marR="27432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F2A44"/>
                          </a:solidFill>
                          <a:latin typeface="Microsoft YaHei"/>
                        </a:defRPr>
                      </a:pPr>
                      <a:r>
                        <a:t>XXX</a:t>
                      </a:r>
                    </a:p>
                  </a:txBody>
                  <a:tcPr marL="27432" marR="27432" marT="18288" marB="18288">
                    <a:solidFill>
                      <a:srgbClr val="F7FAFF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355080" y="4828032"/>
            <a:ext cx="4983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F88"/>
                </a:solidFill>
                <a:latin typeface="Microsoft YaHei"/>
              </a:defRPr>
            </a:pPr>
            <a:r>
              <a:t>说明：本页所有文件信息、页码和字段均为占位符，后续替换为真实溯源结果。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5414</Words>
  <Application>WPS 演示</Application>
  <PresentationFormat>On-screen Show (4:3)</PresentationFormat>
  <Paragraphs>619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基于大模型智能体的教育本体构建系统_成果展示版</dc:title>
  <dc:creator>Codex</dc:creator>
  <dc:description>generated using python-pptx</dc:description>
  <dc:subject>中文答辩PPT修改版</dc:subject>
  <cp:lastModifiedBy>程梓轩</cp:lastModifiedBy>
  <cp:revision>3</cp:revision>
  <dcterms:created xsi:type="dcterms:W3CDTF">2013-01-27T09:14:00Z</dcterms:created>
  <dcterms:modified xsi:type="dcterms:W3CDTF">2026-07-09T07:53:07Z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F8D18DD844C841D4B06046D45FCB181D_12</vt:lpwstr>
  </property>
  <property fmtid="{D5CDD505-2E9C-101B-9397-08002B2CF9AE}" pid="3" name="KSOProductBuildVer">
    <vt:lpwstr>2052-12.1.0.23542</vt:lpwstr>
  </property>
</Properties>
</file>